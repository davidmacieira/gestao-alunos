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58279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1330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16334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89448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28700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96994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6889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8049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0420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06383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093883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7955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 com 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380729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94629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016397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60705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73D01C-0EED-402E-99F5-5666F89B12DE}" type="datetimeFigureOut">
              <a:rPr lang="pt-PT" smtClean="0"/>
              <a:t>20/03/2026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55762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179DE42-5613-4B35-A1E6-6CCBAA13C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98B32-3891-4C3A-8F58-C5969D2E9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48300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AE4806D-B8F9-4679-A68A-9BD21C01A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7175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23">
            <a:extLst>
              <a:ext uri="{FF2B5EF4-FFF2-40B4-BE49-F238E27FC236}">
                <a16:creationId xmlns:a16="http://schemas.microsoft.com/office/drawing/2014/main" id="{52FB45E9-914E-4471-AC87-E475CD5176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58764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  <p:sp>
        <p:nvSpPr>
          <p:cNvPr id="16" name="Rectangle 25">
            <a:extLst>
              <a:ext uri="{FF2B5EF4-FFF2-40B4-BE49-F238E27FC236}">
                <a16:creationId xmlns:a16="http://schemas.microsoft.com/office/drawing/2014/main" id="{C310626D-5743-49D4-8F7D-88C4F8F05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80730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3C195FC1-B568-4C72-9902-34CB35DDD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9621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  <p:sp>
        <p:nvSpPr>
          <p:cNvPr id="20" name="Rectangle 27">
            <a:extLst>
              <a:ext uri="{FF2B5EF4-FFF2-40B4-BE49-F238E27FC236}">
                <a16:creationId xmlns:a16="http://schemas.microsoft.com/office/drawing/2014/main" id="{EF2BDF77-362C-43F0-8CBB-A969EC2AE0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1788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4BE96B01-3929-432D-B8C2-ADBCB74C2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48954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A6FCDE6-CDE2-4C51-B18E-A95CFB679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6287" y="-8467"/>
            <a:ext cx="9175713" cy="6866467"/>
          </a:xfrm>
          <a:custGeom>
            <a:avLst/>
            <a:gdLst>
              <a:gd name="connsiteX0" fmla="*/ 0 w 9175713"/>
              <a:gd name="connsiteY0" fmla="*/ 0 h 6866467"/>
              <a:gd name="connsiteX1" fmla="*/ 1249825 w 9175713"/>
              <a:gd name="connsiteY1" fmla="*/ 0 h 6866467"/>
              <a:gd name="connsiteX2" fmla="*/ 1249825 w 9175713"/>
              <a:gd name="connsiteY2" fmla="*/ 8467 h 6866467"/>
              <a:gd name="connsiteX3" fmla="*/ 9175713 w 9175713"/>
              <a:gd name="connsiteY3" fmla="*/ 8467 h 6866467"/>
              <a:gd name="connsiteX4" fmla="*/ 9175713 w 9175713"/>
              <a:gd name="connsiteY4" fmla="*/ 6866467 h 6866467"/>
              <a:gd name="connsiteX5" fmla="*/ 1249825 w 9175713"/>
              <a:gd name="connsiteY5" fmla="*/ 6866467 h 6866467"/>
              <a:gd name="connsiteX6" fmla="*/ 1109382 w 9175713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175713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9175713" y="8467"/>
                </a:lnTo>
                <a:lnTo>
                  <a:pt x="9175713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C6E26F7-0EAE-07D2-B9AA-6B84701C99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1020871"/>
            <a:ext cx="6960759" cy="2849671"/>
          </a:xfrm>
        </p:spPr>
        <p:txBody>
          <a:bodyPr>
            <a:normAutofit/>
          </a:bodyPr>
          <a:lstStyle/>
          <a:p>
            <a:pPr algn="l"/>
            <a:r>
              <a:rPr lang="pt-PT" sz="6000">
                <a:solidFill>
                  <a:srgbClr val="FFFFFF"/>
                </a:solidFill>
              </a:rPr>
              <a:t>Trabalho Prático Programação Web 2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2A28604-222B-CD6C-4B3F-0B6E499EF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56386" y="3962088"/>
            <a:ext cx="6203795" cy="1186108"/>
          </a:xfrm>
        </p:spPr>
        <p:txBody>
          <a:bodyPr>
            <a:normAutofit/>
          </a:bodyPr>
          <a:lstStyle/>
          <a:p>
            <a:pPr algn="l"/>
            <a:r>
              <a:rPr lang="pt-PT">
                <a:solidFill>
                  <a:srgbClr val="FFFFFF">
                    <a:alpha val="70000"/>
                  </a:srgbClr>
                </a:solidFill>
              </a:rPr>
              <a:t>Aplicação Web interna para suportar processos dos Serviços Académicos e da Gestão Pedagógica</a:t>
            </a: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9D2E8756-2465-473A-BA2A-2DB1D6224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062562" y="3271487"/>
            <a:ext cx="220660" cy="186439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686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7">
            <a:extLst>
              <a:ext uri="{FF2B5EF4-FFF2-40B4-BE49-F238E27FC236}">
                <a16:creationId xmlns:a16="http://schemas.microsoft.com/office/drawing/2014/main" id="{3F993C45-B237-4CD5-A232-CD2DFFF5A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E9EA4F6-F0E3-4DB3-8F82-B91A1F693A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3A7345F-1794-4777-80F8-B67B01BE7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23">
              <a:extLst>
                <a:ext uri="{FF2B5EF4-FFF2-40B4-BE49-F238E27FC236}">
                  <a16:creationId xmlns:a16="http://schemas.microsoft.com/office/drawing/2014/main" id="{AEB4062E-9879-4D6E-8C9A-55D81D61C4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Rectangle 25">
              <a:extLst>
                <a:ext uri="{FF2B5EF4-FFF2-40B4-BE49-F238E27FC236}">
                  <a16:creationId xmlns:a16="http://schemas.microsoft.com/office/drawing/2014/main" id="{E0E1E50E-9B56-49FC-AC93-34C80F4385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786CF095-2697-4E6D-832B-E71B7C8D6D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Rectangle 27">
              <a:extLst>
                <a:ext uri="{FF2B5EF4-FFF2-40B4-BE49-F238E27FC236}">
                  <a16:creationId xmlns:a16="http://schemas.microsoft.com/office/drawing/2014/main" id="{A93A2EA0-D245-490B-A61D-8B32A8DF49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28">
              <a:extLst>
                <a:ext uri="{FF2B5EF4-FFF2-40B4-BE49-F238E27FC236}">
                  <a16:creationId xmlns:a16="http://schemas.microsoft.com/office/drawing/2014/main" id="{6BAC7BF2-009C-48C7-A7F2-2139B5079D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Rectangle 29">
              <a:extLst>
                <a:ext uri="{FF2B5EF4-FFF2-40B4-BE49-F238E27FC236}">
                  <a16:creationId xmlns:a16="http://schemas.microsoft.com/office/drawing/2014/main" id="{7D60F62B-3828-4F12-B884-8A8925325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8A41293-53F5-4380-B216-EB66A4353B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A6DDE673-E05B-400B-B6E1-335E425D8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PT"/>
            </a:p>
          </p:txBody>
        </p:sp>
      </p:grpSp>
      <p:sp useBgFill="1">
        <p:nvSpPr>
          <p:cNvPr id="34" name="Rectangle 19">
            <a:extLst>
              <a:ext uri="{FF2B5EF4-FFF2-40B4-BE49-F238E27FC236}">
                <a16:creationId xmlns:a16="http://schemas.microsoft.com/office/drawing/2014/main" id="{2783C067-F8BF-4755-B516-8A0CD74CF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664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21">
            <a:extLst>
              <a:ext uri="{FF2B5EF4-FFF2-40B4-BE49-F238E27FC236}">
                <a16:creationId xmlns:a16="http://schemas.microsoft.com/office/drawing/2014/main" id="{2ED796EC-E7FF-46DB-B912-FB08BF12A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549A2DAB-B431-487D-95AD-BB0FECB49E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38534" y="3818467"/>
            <a:ext cx="4450292" cy="3039533"/>
          </a:xfrm>
          <a:prstGeom prst="triangle">
            <a:avLst>
              <a:gd name="adj" fmla="val 100000"/>
            </a:avLst>
          </a:prstGeom>
          <a:solidFill>
            <a:schemeClr val="accent1">
              <a:alpha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5ECDEE1-7093-418F-9CF5-24EEB115C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134600" y="0"/>
            <a:ext cx="1727200" cy="6858000"/>
          </a:xfrm>
          <a:prstGeom prst="line">
            <a:avLst/>
          </a:prstGeom>
          <a:ln w="15875" cap="sq">
            <a:solidFill>
              <a:schemeClr val="accent2"/>
            </a:solidFill>
            <a:beve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45062AF-EB11-4651-BC4A-4DA21768D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87C243A6-D832-0BCC-5C0F-04A5C77F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067" y="4050833"/>
            <a:ext cx="7766936" cy="109689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Desenvolver uma aplicação web em PHP com persistência em base de dados relacional e autenticação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AED79C3-5CDF-8122-BC20-F609FDA15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1397000"/>
            <a:ext cx="7766936" cy="265383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/>
              <a:t>Objetivo do Trabalho	</a:t>
            </a:r>
          </a:p>
        </p:txBody>
      </p:sp>
      <p:sp>
        <p:nvSpPr>
          <p:cNvPr id="30" name="Rectangle 27">
            <a:extLst>
              <a:ext uri="{FF2B5EF4-FFF2-40B4-BE49-F238E27FC236}">
                <a16:creationId xmlns:a16="http://schemas.microsoft.com/office/drawing/2014/main" id="{0819F787-32B4-46A8-BC57-C6571BCEE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5641" y="0"/>
            <a:ext cx="1766359" cy="6858000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55234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A5D3E8-447E-BD9C-5606-DA5B30923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Estrutura de Pastas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33E8720-2708-7EE3-9889-5B81D9B84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116" y="105971"/>
            <a:ext cx="4531443" cy="6653745"/>
          </a:xfrm>
          <a:prstGeom prst="rect">
            <a:avLst/>
          </a:prstGeom>
        </p:spPr>
      </p:pic>
      <p:sp>
        <p:nvSpPr>
          <p:cNvPr id="5" name="AutoShape 4">
            <a:extLst>
              <a:ext uri="{FF2B5EF4-FFF2-40B4-BE49-F238E27FC236}">
                <a16:creationId xmlns:a16="http://schemas.microsoft.com/office/drawing/2014/main" id="{9FCC50C3-5FE2-64B8-F01B-91F15E0AF7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22707" y="-78658"/>
            <a:ext cx="3544529" cy="3544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36429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C3D28A7-811F-9EBF-707D-53225D051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pt-PT">
                <a:solidFill>
                  <a:schemeClr val="bg1"/>
                </a:solidFill>
              </a:rPr>
              <a:t>Base de Dados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527FC37-CA9C-C200-14F5-F93C318DA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PT" sz="1400">
                <a:solidFill>
                  <a:schemeClr val="bg1"/>
                </a:solidFill>
              </a:rPr>
              <a:t>Utilizadores – Todas as contas do sistema</a:t>
            </a:r>
          </a:p>
          <a:p>
            <a:pPr>
              <a:lnSpc>
                <a:spcPct val="90000"/>
              </a:lnSpc>
            </a:pPr>
            <a:r>
              <a:rPr lang="pt-PT" sz="1400">
                <a:solidFill>
                  <a:schemeClr val="bg1"/>
                </a:solidFill>
              </a:rPr>
              <a:t>Perfis – Aluno, Admin, Funcionário, Gestor Pedagógico</a:t>
            </a:r>
          </a:p>
          <a:p>
            <a:pPr>
              <a:lnSpc>
                <a:spcPct val="90000"/>
              </a:lnSpc>
            </a:pPr>
            <a:r>
              <a:rPr lang="pt-PT" sz="1400">
                <a:solidFill>
                  <a:schemeClr val="bg1"/>
                </a:solidFill>
              </a:rPr>
              <a:t>Alunos – Dados Pessoais de cada aluno</a:t>
            </a:r>
          </a:p>
          <a:p>
            <a:pPr>
              <a:lnSpc>
                <a:spcPct val="90000"/>
              </a:lnSpc>
            </a:pPr>
            <a:r>
              <a:rPr lang="pt-PT" sz="1400">
                <a:solidFill>
                  <a:schemeClr val="bg1"/>
                </a:solidFill>
              </a:rPr>
              <a:t>Cursos – Cursos disponíveis </a:t>
            </a:r>
          </a:p>
          <a:p>
            <a:pPr>
              <a:lnSpc>
                <a:spcPct val="90000"/>
              </a:lnSpc>
            </a:pPr>
            <a:r>
              <a:rPr lang="pt-PT" sz="1400">
                <a:solidFill>
                  <a:schemeClr val="bg1"/>
                </a:solidFill>
              </a:rPr>
              <a:t>Disciplinas – Unidades Curriculares</a:t>
            </a:r>
          </a:p>
          <a:p>
            <a:pPr>
              <a:lnSpc>
                <a:spcPct val="90000"/>
              </a:lnSpc>
            </a:pPr>
            <a:r>
              <a:rPr lang="pt-PT" sz="1400">
                <a:solidFill>
                  <a:schemeClr val="bg1"/>
                </a:solidFill>
              </a:rPr>
              <a:t>Plano Estudos – Quais disciplinas pertencem a cada curso</a:t>
            </a:r>
          </a:p>
          <a:p>
            <a:pPr>
              <a:lnSpc>
                <a:spcPct val="90000"/>
              </a:lnSpc>
            </a:pPr>
            <a:r>
              <a:rPr lang="pt-PT" sz="1400">
                <a:solidFill>
                  <a:schemeClr val="bg1"/>
                </a:solidFill>
              </a:rPr>
              <a:t>Pedidos Matricula – Pedidos feitos pelos alunos</a:t>
            </a:r>
          </a:p>
          <a:p>
            <a:pPr>
              <a:lnSpc>
                <a:spcPct val="90000"/>
              </a:lnSpc>
            </a:pPr>
            <a:r>
              <a:rPr lang="pt-PT" sz="1400">
                <a:solidFill>
                  <a:schemeClr val="bg1"/>
                </a:solidFill>
              </a:rPr>
              <a:t>Notas – Notas dos alunos em cada disciplina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1D8C576-F4A1-4D2F-97F7-436D4D4D7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796" y="2492917"/>
            <a:ext cx="6568977" cy="1872159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13852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52128-04EE-CF03-C5B9-0064585F4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3737268" cy="1320800"/>
          </a:xfrm>
        </p:spPr>
        <p:txBody>
          <a:bodyPr>
            <a:normAutofit/>
          </a:bodyPr>
          <a:lstStyle/>
          <a:p>
            <a:r>
              <a:rPr lang="pt-PT"/>
              <a:t>Perfil : Aluno	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9A23A43-0188-F3F2-15DC-0F016C764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563" y="2160589"/>
            <a:ext cx="4064439" cy="3880773"/>
          </a:xfrm>
        </p:spPr>
        <p:txBody>
          <a:bodyPr>
            <a:normAutofit/>
          </a:bodyPr>
          <a:lstStyle/>
          <a:p>
            <a:r>
              <a:rPr lang="pt-PT"/>
              <a:t>1- Cria conta no registo</a:t>
            </a:r>
          </a:p>
          <a:p>
            <a:r>
              <a:rPr lang="pt-PT"/>
              <a:t>2 - Preenche a ficha pessoal</a:t>
            </a:r>
          </a:p>
          <a:p>
            <a:r>
              <a:rPr lang="pt-PT"/>
              <a:t>3 - Submete a ficha para a avaliação</a:t>
            </a:r>
          </a:p>
          <a:p>
            <a:r>
              <a:rPr lang="pt-PT"/>
              <a:t>4 – Aguarda aprovação do Gestor</a:t>
            </a:r>
          </a:p>
          <a:p>
            <a:r>
              <a:rPr lang="pt-PT"/>
              <a:t>5 – Se for aprovado, faz pedido de matricula</a:t>
            </a:r>
          </a:p>
          <a:p>
            <a:r>
              <a:rPr lang="pt-PT"/>
              <a:t>6 – Aguarda aprovação do Funcionário</a:t>
            </a:r>
          </a:p>
          <a:p>
            <a:r>
              <a:rPr lang="pt-PT"/>
              <a:t>7 – Consulta as suas notas no dashboard</a:t>
            </a:r>
            <a:endParaRPr lang="pt-PT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87BD4E-EEA7-04D8-3D88-0E353D6D57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22" r="60382" b="1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8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89954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94E38D-00EA-759A-B29B-BDC9B15D1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pt-PT">
                <a:solidFill>
                  <a:schemeClr val="bg1"/>
                </a:solidFill>
              </a:rPr>
              <a:t>Perfil : Gestor Pedagógico	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C735734-B980-AD38-9344-EB3ED93A9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pt-PT">
                <a:solidFill>
                  <a:schemeClr val="bg1"/>
                </a:solidFill>
              </a:rPr>
              <a:t>Vê todas as fichas submetidas pelos alunos</a:t>
            </a:r>
          </a:p>
          <a:p>
            <a:r>
              <a:rPr lang="pt-PT">
                <a:solidFill>
                  <a:schemeClr val="bg1"/>
                </a:solidFill>
              </a:rPr>
              <a:t>Aprova ou rejeita com observações</a:t>
            </a:r>
          </a:p>
          <a:p>
            <a:r>
              <a:rPr lang="pt-PT">
                <a:solidFill>
                  <a:schemeClr val="bg1"/>
                </a:solidFill>
              </a:rPr>
              <a:t>Gere os cursos</a:t>
            </a:r>
          </a:p>
          <a:p>
            <a:r>
              <a:rPr lang="pt-PT">
                <a:solidFill>
                  <a:schemeClr val="bg1"/>
                </a:solidFill>
              </a:rPr>
              <a:t>Gere as disciplinas</a:t>
            </a:r>
          </a:p>
          <a:p>
            <a:r>
              <a:rPr lang="pt-PT">
                <a:solidFill>
                  <a:schemeClr val="bg1"/>
                </a:solidFill>
              </a:rPr>
              <a:t>Configura o plano de estudos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3409CDC-FF3F-A3EE-092B-8356DDD8FA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1828" y="1927007"/>
            <a:ext cx="6479723" cy="2705284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9075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E53E69-20F2-1665-D791-FF03C522B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pt-PT">
                <a:solidFill>
                  <a:schemeClr val="bg1"/>
                </a:solidFill>
              </a:rPr>
              <a:t>Perfil : Funcionário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D7EEDD4-8EED-A4B2-5778-E698B545B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pt-PT">
                <a:solidFill>
                  <a:schemeClr val="bg1"/>
                </a:solidFill>
              </a:rPr>
              <a:t>Vê os pedidos de matricula pendentes</a:t>
            </a:r>
          </a:p>
          <a:p>
            <a:r>
              <a:rPr lang="pt-PT">
                <a:solidFill>
                  <a:schemeClr val="bg1"/>
                </a:solidFill>
              </a:rPr>
              <a:t>Aprova ou rejeita pedidos</a:t>
            </a:r>
          </a:p>
          <a:p>
            <a:r>
              <a:rPr lang="pt-PT">
                <a:solidFill>
                  <a:schemeClr val="bg1"/>
                </a:solidFill>
              </a:rPr>
              <a:t>Cria pautas de avaliação</a:t>
            </a:r>
          </a:p>
          <a:p>
            <a:r>
              <a:rPr lang="pt-PT">
                <a:solidFill>
                  <a:schemeClr val="bg1"/>
                </a:solidFill>
              </a:rPr>
              <a:t>Lança notas nas pautas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3232705-358B-85B9-87EF-3C61EC631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2484054"/>
            <a:ext cx="5143500" cy="1877377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87951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E92C7EB-5A94-0C3E-7A35-6B9A590A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pt-PT">
                <a:solidFill>
                  <a:schemeClr val="bg1"/>
                </a:solidFill>
              </a:rPr>
              <a:t>Perfil : Admin	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91FEF71-E54B-C393-74CF-ABEDBD479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pt-PT">
                <a:solidFill>
                  <a:schemeClr val="bg1"/>
                </a:solidFill>
              </a:rPr>
              <a:t>Acesso total do Sistema</a:t>
            </a:r>
          </a:p>
          <a:p>
            <a:r>
              <a:rPr lang="pt-PT">
                <a:solidFill>
                  <a:schemeClr val="bg1"/>
                </a:solidFill>
              </a:rPr>
              <a:t>Crud completo de alunos, cursos,disciplinas,notas e planos de estudo</a:t>
            </a:r>
          </a:p>
          <a:p>
            <a:r>
              <a:rPr lang="pt-PT">
                <a:solidFill>
                  <a:schemeClr val="bg1"/>
                </a:solidFill>
              </a:rPr>
              <a:t>Gere todos os utilizadores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F8BDD4B-463F-10FC-6C36-A10A7D94B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228" y="2160590"/>
            <a:ext cx="6406112" cy="2306199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0525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125</TotalTime>
  <Words>227</Words>
  <Application>Microsoft Office PowerPoint</Application>
  <PresentationFormat>Ecrã Panorâmico</PresentationFormat>
  <Paragraphs>37</Paragraphs>
  <Slides>8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8</vt:i4>
      </vt:variant>
    </vt:vector>
  </HeadingPairs>
  <TitlesOfParts>
    <vt:vector size="12" baseType="lpstr">
      <vt:lpstr>Arial</vt:lpstr>
      <vt:lpstr>Trebuchet MS</vt:lpstr>
      <vt:lpstr>Wingdings 3</vt:lpstr>
      <vt:lpstr>Faceta</vt:lpstr>
      <vt:lpstr>Trabalho Prático Programação Web 2</vt:lpstr>
      <vt:lpstr>Objetivo do Trabalho </vt:lpstr>
      <vt:lpstr>Estrutura de Pastas</vt:lpstr>
      <vt:lpstr>Base de Dados</vt:lpstr>
      <vt:lpstr>Perfil : Aluno </vt:lpstr>
      <vt:lpstr>Perfil : Gestor Pedagógico </vt:lpstr>
      <vt:lpstr>Perfil : Funcionário</vt:lpstr>
      <vt:lpstr>Perfil : Admin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Flores Macieira</dc:creator>
  <cp:lastModifiedBy>David Flores Macieira</cp:lastModifiedBy>
  <cp:revision>3</cp:revision>
  <dcterms:created xsi:type="dcterms:W3CDTF">2026-03-16T15:47:30Z</dcterms:created>
  <dcterms:modified xsi:type="dcterms:W3CDTF">2026-03-20T12:48:05Z</dcterms:modified>
</cp:coreProperties>
</file>